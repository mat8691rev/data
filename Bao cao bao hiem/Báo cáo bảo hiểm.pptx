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7175" cy="13716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Lucida Calligraphy" panose="03010101010101010101" pitchFamily="66" charset="0"/>
      <p:regular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448">
          <p15:clr>
            <a:srgbClr val="A4A3A4"/>
          </p15:clr>
        </p15:guide>
        <p15:guide id="2" pos="768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7cPCSS30orCR3JZYO7t4Z08bu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460" y="76"/>
      </p:cViewPr>
      <p:guideLst>
        <p:guide orient="horz" pos="8448"/>
        <p:guide pos="7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4663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99025" rIns="99025" bIns="99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62dd08a28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2e62dd08a28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g2e62dd08a28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62dd08a28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2e62dd08a28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e62dd08a28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62dd08a28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2e62dd08a28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2e62dd08a28_1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62dd08a2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2e62dd08a28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2e62dd08a28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62dd08a28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e62dd08a28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2e62dd08a28_1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29926ef4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115" name="Google Shape;115;g2e29926ef4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Only">
  <p:cSld name="Title-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7"/>
          <p:cNvSpPr txBox="1">
            <a:spLocks noGrp="1"/>
          </p:cNvSpPr>
          <p:nvPr>
            <p:ph type="title"/>
          </p:nvPr>
        </p:nvSpPr>
        <p:spPr>
          <a:xfrm>
            <a:off x="1064042" y="812801"/>
            <a:ext cx="19352585" cy="105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29374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7"/>
          <p:cNvSpPr txBox="1">
            <a:spLocks noGrp="1"/>
          </p:cNvSpPr>
          <p:nvPr>
            <p:ph type="sldNum" idx="12"/>
          </p:nvPr>
        </p:nvSpPr>
        <p:spPr>
          <a:xfrm>
            <a:off x="23113512" y="13112751"/>
            <a:ext cx="910906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8"/>
          <p:cNvSpPr txBox="1">
            <a:spLocks noGrp="1"/>
          </p:cNvSpPr>
          <p:nvPr>
            <p:ph type="title"/>
          </p:nvPr>
        </p:nvSpPr>
        <p:spPr>
          <a:xfrm>
            <a:off x="1064042" y="812801"/>
            <a:ext cx="19352585" cy="105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8"/>
          <p:cNvSpPr txBox="1">
            <a:spLocks noGrp="1"/>
          </p:cNvSpPr>
          <p:nvPr>
            <p:ph type="body" idx="1"/>
          </p:nvPr>
        </p:nvSpPr>
        <p:spPr>
          <a:xfrm>
            <a:off x="1062717" y="2340863"/>
            <a:ext cx="22261739" cy="954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5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5200"/>
              <a:buChar char="•"/>
              <a:defRPr sz="5200"/>
            </a:lvl1pPr>
            <a:lvl2pPr marL="914400" lvl="1" indent="-508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400"/>
              <a:buChar char="–"/>
              <a:defRPr sz="4400"/>
            </a:lvl2pPr>
            <a:lvl3pPr marL="1371600" lvl="2" indent="-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600"/>
              <a:buChar char="•"/>
              <a:defRPr sz="3600"/>
            </a:lvl3pPr>
            <a:lvl4pPr marL="1828800" lvl="3" indent="-431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200"/>
              <a:buChar char="–"/>
              <a:defRPr sz="3200"/>
            </a:lvl4pPr>
            <a:lvl5pPr marL="2286000" lvl="4" indent="-406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 sz="28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48"/>
          <p:cNvSpPr txBox="1">
            <a:spLocks noGrp="1"/>
          </p:cNvSpPr>
          <p:nvPr>
            <p:ph type="sldNum" idx="12"/>
          </p:nvPr>
        </p:nvSpPr>
        <p:spPr>
          <a:xfrm>
            <a:off x="23017219" y="13112751"/>
            <a:ext cx="667011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4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149"/>
          <p:cNvSpPr txBox="1">
            <a:spLocks noGrp="1"/>
          </p:cNvSpPr>
          <p:nvPr>
            <p:ph type="sldNum" idx="12"/>
          </p:nvPr>
        </p:nvSpPr>
        <p:spPr>
          <a:xfrm>
            <a:off x="23017219" y="13112751"/>
            <a:ext cx="667011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without Picture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0"/>
          <p:cNvSpPr txBox="1">
            <a:spLocks noGrp="1"/>
          </p:cNvSpPr>
          <p:nvPr>
            <p:ph type="title"/>
          </p:nvPr>
        </p:nvSpPr>
        <p:spPr>
          <a:xfrm>
            <a:off x="1064042" y="5200648"/>
            <a:ext cx="22259094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600" b="0" cap="none">
                <a:solidFill>
                  <a:srgbClr val="29374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0"/>
          <p:cNvSpPr txBox="1">
            <a:spLocks noGrp="1"/>
          </p:cNvSpPr>
          <p:nvPr>
            <p:ph type="body" idx="1"/>
          </p:nvPr>
        </p:nvSpPr>
        <p:spPr>
          <a:xfrm>
            <a:off x="1064042" y="8077196"/>
            <a:ext cx="2225909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 b="1">
                <a:solidFill>
                  <a:srgbClr val="29374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98999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98999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98999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98999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98999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98999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98999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98999A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50"/>
          <p:cNvSpPr txBox="1">
            <a:spLocks noGrp="1"/>
          </p:cNvSpPr>
          <p:nvPr>
            <p:ph type="sldNum" idx="12"/>
          </p:nvPr>
        </p:nvSpPr>
        <p:spPr>
          <a:xfrm>
            <a:off x="23017219" y="13112751"/>
            <a:ext cx="667011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50"/>
          <p:cNvSpPr/>
          <p:nvPr/>
        </p:nvSpPr>
        <p:spPr>
          <a:xfrm>
            <a:off x="-1142" y="10708107"/>
            <a:ext cx="24388317" cy="2189746"/>
          </a:xfrm>
          <a:prstGeom prst="rect">
            <a:avLst/>
          </a:prstGeom>
          <a:solidFill>
            <a:srgbClr val="D8E1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46"/>
          <p:cNvGrpSpPr/>
          <p:nvPr/>
        </p:nvGrpSpPr>
        <p:grpSpPr>
          <a:xfrm>
            <a:off x="0" y="0"/>
            <a:ext cx="24388321" cy="13716000"/>
            <a:chOff x="0" y="0"/>
            <a:chExt cx="12189398" cy="6858000"/>
          </a:xfrm>
        </p:grpSpPr>
        <p:sp>
          <p:nvSpPr>
            <p:cNvPr id="11" name="Google Shape;11;p146"/>
            <p:cNvSpPr/>
            <p:nvPr/>
          </p:nvSpPr>
          <p:spPr>
            <a:xfrm>
              <a:off x="0" y="0"/>
              <a:ext cx="193962" cy="6858000"/>
            </a:xfrm>
            <a:prstGeom prst="rect">
              <a:avLst/>
            </a:prstGeom>
            <a:solidFill>
              <a:srgbClr val="D8E1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46"/>
            <p:cNvSpPr/>
            <p:nvPr/>
          </p:nvSpPr>
          <p:spPr>
            <a:xfrm>
              <a:off x="11995151" y="0"/>
              <a:ext cx="193960" cy="6858000"/>
            </a:xfrm>
            <a:prstGeom prst="rect">
              <a:avLst/>
            </a:prstGeom>
            <a:solidFill>
              <a:srgbClr val="D8E1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46"/>
            <p:cNvSpPr/>
            <p:nvPr/>
          </p:nvSpPr>
          <p:spPr>
            <a:xfrm>
              <a:off x="0" y="6400800"/>
              <a:ext cx="12189396" cy="457200"/>
            </a:xfrm>
            <a:prstGeom prst="rect">
              <a:avLst/>
            </a:prstGeom>
            <a:solidFill>
              <a:srgbClr val="D8E1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46"/>
            <p:cNvSpPr/>
            <p:nvPr/>
          </p:nvSpPr>
          <p:spPr>
            <a:xfrm>
              <a:off x="0" y="0"/>
              <a:ext cx="12189398" cy="192024"/>
            </a:xfrm>
            <a:prstGeom prst="rect">
              <a:avLst/>
            </a:prstGeom>
            <a:solidFill>
              <a:srgbClr val="D8E1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146"/>
          <p:cNvSpPr txBox="1">
            <a:spLocks noGrp="1"/>
          </p:cNvSpPr>
          <p:nvPr>
            <p:ph type="title"/>
          </p:nvPr>
        </p:nvSpPr>
        <p:spPr>
          <a:xfrm>
            <a:off x="1064042" y="812801"/>
            <a:ext cx="19352585" cy="105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1" i="0" u="none" strike="noStrike" cap="none">
                <a:solidFill>
                  <a:srgbClr val="2937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46"/>
          <p:cNvSpPr txBox="1">
            <a:spLocks noGrp="1"/>
          </p:cNvSpPr>
          <p:nvPr>
            <p:ph type="body" idx="1"/>
          </p:nvPr>
        </p:nvSpPr>
        <p:spPr>
          <a:xfrm>
            <a:off x="1064042" y="2272640"/>
            <a:ext cx="22259100" cy="9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5588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9A9B9D"/>
              </a:buClr>
              <a:buSzPts val="5200"/>
              <a:buFont typeface="Arial"/>
              <a:buChar char="•"/>
              <a:defRPr sz="5200" b="0" i="0" u="none" strike="noStrike" cap="none">
                <a:solidFill>
                  <a:srgbClr val="2937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08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9A9B9D"/>
              </a:buClr>
              <a:buSzPts val="4400"/>
              <a:buFont typeface="Arial"/>
              <a:buChar char="–"/>
              <a:defRPr sz="4400" b="0" i="0" u="none" strike="noStrike" cap="none">
                <a:solidFill>
                  <a:srgbClr val="29374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A9B9D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29374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A9B9D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29374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A9B9D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29374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9B9C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9B9C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9B9C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9B9C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46"/>
          <p:cNvSpPr txBox="1">
            <a:spLocks noGrp="1"/>
          </p:cNvSpPr>
          <p:nvPr>
            <p:ph type="sldNum" idx="12"/>
          </p:nvPr>
        </p:nvSpPr>
        <p:spPr>
          <a:xfrm>
            <a:off x="23017219" y="13112751"/>
            <a:ext cx="667011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E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14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51300" y="456002"/>
            <a:ext cx="3022750" cy="14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46"/>
          <p:cNvSpPr txBox="1"/>
          <p:nvPr/>
        </p:nvSpPr>
        <p:spPr>
          <a:xfrm>
            <a:off x="6999700" y="13007600"/>
            <a:ext cx="10632600" cy="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8"/>
              <a:buFont typeface="Arial"/>
              <a:buNone/>
            </a:pPr>
            <a:r>
              <a:rPr lang="en-US" sz="253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Copyright © 2024, Insight Data and/or its affiliates. All rights reserved.</a:t>
            </a:r>
            <a:endParaRPr sz="3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8"/>
          <p:cNvSpPr txBox="1">
            <a:spLocks noGrp="1"/>
          </p:cNvSpPr>
          <p:nvPr>
            <p:ph type="sldNum" idx="12"/>
          </p:nvPr>
        </p:nvSpPr>
        <p:spPr>
          <a:xfrm>
            <a:off x="23113512" y="13112751"/>
            <a:ext cx="910906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138"/>
          <p:cNvSpPr/>
          <p:nvPr/>
        </p:nvSpPr>
        <p:spPr>
          <a:xfrm>
            <a:off x="19701321" y="512958"/>
            <a:ext cx="4059044" cy="182880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38"/>
          <p:cNvSpPr/>
          <p:nvPr/>
        </p:nvSpPr>
        <p:spPr>
          <a:xfrm>
            <a:off x="389220" y="248099"/>
            <a:ext cx="23634000" cy="12479700"/>
          </a:xfrm>
          <a:prstGeom prst="rect">
            <a:avLst/>
          </a:prstGeom>
          <a:gradFill>
            <a:gsLst>
              <a:gs pos="0">
                <a:srgbClr val="254969"/>
              </a:gs>
              <a:gs pos="50000">
                <a:srgbClr val="366A99"/>
              </a:gs>
              <a:gs pos="100000">
                <a:srgbClr val="427FB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" name="Google Shape;44;p138"/>
          <p:cNvGrpSpPr/>
          <p:nvPr/>
        </p:nvGrpSpPr>
        <p:grpSpPr>
          <a:xfrm>
            <a:off x="18057636" y="5925373"/>
            <a:ext cx="5962162" cy="6417734"/>
            <a:chOff x="9206969" y="2963333"/>
            <a:chExt cx="2981858" cy="3208867"/>
          </a:xfrm>
        </p:grpSpPr>
        <p:cxnSp>
          <p:nvCxnSpPr>
            <p:cNvPr id="45" name="Google Shape;45;p138"/>
            <p:cNvCxnSpPr/>
            <p:nvPr/>
          </p:nvCxnSpPr>
          <p:spPr>
            <a:xfrm flipH="1">
              <a:off x="11276012" y="2963333"/>
              <a:ext cx="912814" cy="912812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  <p:cxnSp>
          <p:nvCxnSpPr>
            <p:cNvPr id="46" name="Google Shape;46;p138"/>
            <p:cNvCxnSpPr/>
            <p:nvPr/>
          </p:nvCxnSpPr>
          <p:spPr>
            <a:xfrm flipH="1">
              <a:off x="9206969" y="3190344"/>
              <a:ext cx="2981857" cy="2981856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  <p:cxnSp>
          <p:nvCxnSpPr>
            <p:cNvPr id="47" name="Google Shape;47;p138"/>
            <p:cNvCxnSpPr/>
            <p:nvPr/>
          </p:nvCxnSpPr>
          <p:spPr>
            <a:xfrm flipH="1">
              <a:off x="10292292" y="3285067"/>
              <a:ext cx="1896534" cy="1896533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  <p:cxnSp>
          <p:nvCxnSpPr>
            <p:cNvPr id="48" name="Google Shape;48;p138"/>
            <p:cNvCxnSpPr/>
            <p:nvPr/>
          </p:nvCxnSpPr>
          <p:spPr>
            <a:xfrm flipH="1">
              <a:off x="10443103" y="3131080"/>
              <a:ext cx="1745722" cy="174572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  <p:cxnSp>
          <p:nvCxnSpPr>
            <p:cNvPr id="49" name="Google Shape;49;p138"/>
            <p:cNvCxnSpPr/>
            <p:nvPr/>
          </p:nvCxnSpPr>
          <p:spPr>
            <a:xfrm flipH="1">
              <a:off x="10918826" y="3683001"/>
              <a:ext cx="1270001" cy="1269999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</p:grpSp>
      <p:grpSp>
        <p:nvGrpSpPr>
          <p:cNvPr id="50" name="Google Shape;50;p138"/>
          <p:cNvGrpSpPr/>
          <p:nvPr/>
        </p:nvGrpSpPr>
        <p:grpSpPr>
          <a:xfrm rot="10800000">
            <a:off x="392688" y="676341"/>
            <a:ext cx="5962162" cy="6417734"/>
            <a:chOff x="9206969" y="2963333"/>
            <a:chExt cx="2981858" cy="3208867"/>
          </a:xfrm>
        </p:grpSpPr>
        <p:cxnSp>
          <p:nvCxnSpPr>
            <p:cNvPr id="51" name="Google Shape;51;p138"/>
            <p:cNvCxnSpPr/>
            <p:nvPr/>
          </p:nvCxnSpPr>
          <p:spPr>
            <a:xfrm flipH="1">
              <a:off x="11276012" y="2963333"/>
              <a:ext cx="912814" cy="912812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  <p:cxnSp>
          <p:nvCxnSpPr>
            <p:cNvPr id="52" name="Google Shape;52;p138"/>
            <p:cNvCxnSpPr/>
            <p:nvPr/>
          </p:nvCxnSpPr>
          <p:spPr>
            <a:xfrm flipH="1">
              <a:off x="9206969" y="3190344"/>
              <a:ext cx="2981857" cy="2981856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  <p:cxnSp>
          <p:nvCxnSpPr>
            <p:cNvPr id="53" name="Google Shape;53;p138"/>
            <p:cNvCxnSpPr/>
            <p:nvPr/>
          </p:nvCxnSpPr>
          <p:spPr>
            <a:xfrm flipH="1">
              <a:off x="10292292" y="3285067"/>
              <a:ext cx="1896534" cy="1896533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  <p:cxnSp>
          <p:nvCxnSpPr>
            <p:cNvPr id="54" name="Google Shape;54;p138"/>
            <p:cNvCxnSpPr/>
            <p:nvPr/>
          </p:nvCxnSpPr>
          <p:spPr>
            <a:xfrm flipH="1">
              <a:off x="10443103" y="3131080"/>
              <a:ext cx="1745722" cy="174572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  <p:cxnSp>
          <p:nvCxnSpPr>
            <p:cNvPr id="55" name="Google Shape;55;p138"/>
            <p:cNvCxnSpPr/>
            <p:nvPr/>
          </p:nvCxnSpPr>
          <p:spPr>
            <a:xfrm flipH="1">
              <a:off x="10918826" y="3683001"/>
              <a:ext cx="1270001" cy="1269999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862"/>
                </a:srgbClr>
              </a:outerShdw>
            </a:effectLst>
          </p:spPr>
        </p:cxnSp>
      </p:grpSp>
      <p:sp>
        <p:nvSpPr>
          <p:cNvPr id="59" name="Google Shape;59;p138"/>
          <p:cNvSpPr txBox="1"/>
          <p:nvPr/>
        </p:nvSpPr>
        <p:spPr>
          <a:xfrm>
            <a:off x="2288729" y="4568294"/>
            <a:ext cx="19964400" cy="21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en-US" sz="9500" b="1" dirty="0">
                <a:solidFill>
                  <a:schemeClr val="lt1"/>
                </a:solidFill>
              </a:rPr>
              <a:t>BÁO CÁO BẢO HIỂM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endParaRPr sz="9500" b="1" dirty="0">
              <a:solidFill>
                <a:schemeClr val="lt1"/>
              </a:solidFill>
            </a:endParaRPr>
          </a:p>
        </p:txBody>
      </p:sp>
      <p:sp>
        <p:nvSpPr>
          <p:cNvPr id="60" name="Google Shape;60;p138"/>
          <p:cNvSpPr txBox="1"/>
          <p:nvPr/>
        </p:nvSpPr>
        <p:spPr>
          <a:xfrm>
            <a:off x="7668590" y="11605814"/>
            <a:ext cx="8872152" cy="737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6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Hà Nội, 20-</a:t>
            </a:r>
            <a:r>
              <a:rPr lang="en-US" sz="3600" i="1">
                <a:solidFill>
                  <a:schemeClr val="lt1"/>
                </a:solidFill>
              </a:rPr>
              <a:t>Nov</a:t>
            </a:r>
            <a:r>
              <a:rPr lang="en-US" sz="36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-202</a:t>
            </a:r>
            <a:r>
              <a:rPr lang="en-US" sz="3600" i="1">
                <a:solidFill>
                  <a:schemeClr val="lt1"/>
                </a:solidFill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A0368E-7E38-4EA5-A5BB-982D9ECD1CE7}"/>
              </a:ext>
            </a:extLst>
          </p:cNvPr>
          <p:cNvSpPr txBox="1"/>
          <p:nvPr/>
        </p:nvSpPr>
        <p:spPr>
          <a:xfrm>
            <a:off x="6918471" y="7701579"/>
            <a:ext cx="11455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solidFill>
                  <a:schemeClr val="bg1"/>
                </a:solidFill>
              </a:rPr>
              <a:t>Người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r>
              <a:rPr lang="en-US" sz="4800" b="1" dirty="0" err="1">
                <a:solidFill>
                  <a:schemeClr val="bg1"/>
                </a:solidFill>
              </a:rPr>
              <a:t>thực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r>
              <a:rPr lang="en-US" sz="4800" b="1" dirty="0" err="1">
                <a:solidFill>
                  <a:schemeClr val="bg1"/>
                </a:solidFill>
              </a:rPr>
              <a:t>hiện</a:t>
            </a:r>
            <a:r>
              <a:rPr lang="en-US" sz="4800" b="1" dirty="0">
                <a:solidFill>
                  <a:schemeClr val="bg1"/>
                </a:solidFill>
              </a:rPr>
              <a:t>: </a:t>
            </a:r>
            <a:r>
              <a:rPr lang="en-US" sz="4800" b="1" dirty="0" err="1">
                <a:solidFill>
                  <a:schemeClr val="bg1"/>
                </a:solidFill>
              </a:rPr>
              <a:t>Trần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r>
              <a:rPr lang="en-US" sz="4800" b="1" dirty="0" err="1">
                <a:solidFill>
                  <a:schemeClr val="bg1"/>
                </a:solidFill>
              </a:rPr>
              <a:t>Thị</a:t>
            </a:r>
            <a:r>
              <a:rPr lang="en-US" sz="4800" b="1" dirty="0">
                <a:solidFill>
                  <a:schemeClr val="bg1"/>
                </a:solidFill>
              </a:rPr>
              <a:t> Minh </a:t>
            </a:r>
            <a:r>
              <a:rPr lang="en-US" sz="4800" b="1" dirty="0" err="1">
                <a:solidFill>
                  <a:schemeClr val="bg1"/>
                </a:solidFill>
              </a:rPr>
              <a:t>Tâm</a:t>
            </a:r>
            <a:endParaRPr lang="en-US" sz="4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title"/>
          </p:nvPr>
        </p:nvSpPr>
        <p:spPr>
          <a:xfrm>
            <a:off x="1064042" y="812801"/>
            <a:ext cx="19352585" cy="105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4AAC"/>
                </a:solidFill>
              </a:rPr>
              <a:t>NỘI DUNG CHÍNH </a:t>
            </a:r>
            <a:endParaRPr>
              <a:solidFill>
                <a:srgbClr val="004AAC"/>
              </a:solidFill>
            </a:endParaRPr>
          </a:p>
        </p:txBody>
      </p:sp>
      <p:grpSp>
        <p:nvGrpSpPr>
          <p:cNvPr id="66" name="Google Shape;66;p2"/>
          <p:cNvGrpSpPr/>
          <p:nvPr/>
        </p:nvGrpSpPr>
        <p:grpSpPr>
          <a:xfrm>
            <a:off x="3409710" y="2935825"/>
            <a:ext cx="22758267" cy="9254516"/>
            <a:chOff x="1238875" y="1377747"/>
            <a:chExt cx="7927776" cy="3470400"/>
          </a:xfrm>
        </p:grpSpPr>
        <p:sp>
          <p:nvSpPr>
            <p:cNvPr id="67" name="Google Shape;67;p2"/>
            <p:cNvSpPr txBox="1"/>
            <p:nvPr/>
          </p:nvSpPr>
          <p:spPr>
            <a:xfrm>
              <a:off x="1989751" y="1377747"/>
              <a:ext cx="7176900" cy="347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00" tIns="91400" rIns="182800" bIns="91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lang="en-US" sz="5600" i="0" u="none" strike="noStrike" cap="none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Giới</a:t>
              </a:r>
              <a:r>
                <a:rPr lang="en-US" sz="5600" i="0" u="none" strike="noStrike" cap="none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i="0" u="none" strike="noStrike" cap="none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thiệu</a:t>
              </a:r>
              <a:r>
                <a:rPr lang="en-US" sz="5600" i="0" u="none" strike="noStrike" cap="none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i="0" u="none" strike="noStrike" cap="none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về</a:t>
              </a:r>
              <a:r>
                <a:rPr lang="en-US" sz="5600" i="0" u="none" strike="noStrike" cap="none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bối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cảnh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toán</a:t>
              </a:r>
              <a:endParaRPr sz="560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80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Phân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tích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tổng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80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Phân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tích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rủi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từ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xe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và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hành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vi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sử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dụng</a:t>
              </a:r>
              <a:endParaRPr sz="56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80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lang="vi-VN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Phân tích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mức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độ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rủi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của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khách</a:t>
              </a:r>
              <a:r>
                <a:rPr lang="en-US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5600" dirty="0" err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hàng</a:t>
              </a:r>
              <a:endParaRPr lang="vi-VN" sz="56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80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lang="vi-VN" sz="5600" dirty="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Đề xuất giải pháp</a:t>
              </a:r>
              <a:endParaRPr lang="vi-VN" sz="56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238875" y="1440863"/>
              <a:ext cx="529500" cy="268800"/>
            </a:xfrm>
            <a:prstGeom prst="homePlat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00" tIns="91400" rIns="182800" bIns="91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238875" y="2037319"/>
              <a:ext cx="529500" cy="268800"/>
            </a:xfrm>
            <a:prstGeom prst="homePlat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00" tIns="91400" rIns="182800" bIns="91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238875" y="2565959"/>
              <a:ext cx="529500" cy="268800"/>
            </a:xfrm>
            <a:prstGeom prst="homePlat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00" tIns="91400" rIns="182800" bIns="91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2"/>
          <p:cNvSpPr/>
          <p:nvPr/>
        </p:nvSpPr>
        <p:spPr>
          <a:xfrm>
            <a:off x="3409710" y="7449358"/>
            <a:ext cx="1520100" cy="7167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82800" tIns="91400" rIns="182800" bIns="914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409710" y="8936190"/>
            <a:ext cx="1520100" cy="7167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82800" tIns="91400" rIns="182800" bIns="914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62dd08a28_1_4"/>
          <p:cNvSpPr txBox="1">
            <a:spLocks noGrp="1"/>
          </p:cNvSpPr>
          <p:nvPr>
            <p:ph type="title"/>
          </p:nvPr>
        </p:nvSpPr>
        <p:spPr>
          <a:xfrm>
            <a:off x="1064042" y="812801"/>
            <a:ext cx="19352700" cy="10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dirty="0"/>
          </a:p>
        </p:txBody>
      </p:sp>
      <p:sp>
        <p:nvSpPr>
          <p:cNvPr id="79" name="Google Shape;79;g2e62dd08a28_1_4"/>
          <p:cNvSpPr txBox="1">
            <a:spLocks noGrp="1"/>
          </p:cNvSpPr>
          <p:nvPr>
            <p:ph type="body" idx="1"/>
          </p:nvPr>
        </p:nvSpPr>
        <p:spPr>
          <a:xfrm>
            <a:off x="2468880" y="2438538"/>
            <a:ext cx="18676620" cy="9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85800" indent="-685800" algn="just">
              <a:spcBef>
                <a:spcPts val="1800"/>
              </a:spcBef>
              <a:spcAft>
                <a:spcPts val="1200"/>
              </a:spcAft>
            </a:pP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hiểm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bồi</a:t>
            </a:r>
            <a:r>
              <a:rPr lang="en-US" dirty="0"/>
              <a:t> </a:t>
            </a:r>
            <a:r>
              <a:rPr lang="en-US" dirty="0" err="1"/>
              <a:t>thường</a:t>
            </a:r>
            <a:endParaRPr lang="en-US" dirty="0"/>
          </a:p>
          <a:p>
            <a:pPr marL="685800" indent="-685800" algn="just">
              <a:spcBef>
                <a:spcPts val="1800"/>
              </a:spcBef>
              <a:spcAft>
                <a:spcPts val="1200"/>
              </a:spcAft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rải</a:t>
            </a:r>
            <a:r>
              <a:rPr lang="en-US" dirty="0"/>
              <a:t> </a:t>
            </a:r>
            <a:r>
              <a:rPr lang="en-US" dirty="0" err="1"/>
              <a:t>rác</a:t>
            </a:r>
            <a:r>
              <a:rPr lang="en-US" dirty="0"/>
              <a:t>, </a:t>
            </a:r>
            <a:r>
              <a:rPr lang="en-US" dirty="0" err="1"/>
              <a:t>lộn</a:t>
            </a:r>
            <a:r>
              <a:rPr lang="en-US" dirty="0"/>
              <a:t> </a:t>
            </a:r>
            <a:r>
              <a:rPr lang="en-US" dirty="0" err="1"/>
              <a:t>xộn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.</a:t>
            </a:r>
            <a:endParaRPr dirty="0"/>
          </a:p>
          <a:p>
            <a:pPr marL="685800" indent="-685800" algn="just">
              <a:spcBef>
                <a:spcPts val="1800"/>
              </a:spcBef>
              <a:spcAft>
                <a:spcPts val="1200"/>
              </a:spcAft>
            </a:pP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:</a:t>
            </a:r>
            <a:endParaRPr dirty="0"/>
          </a:p>
          <a:p>
            <a:pPr marL="1657350" lvl="2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4400" dirty="0" err="1"/>
              <a:t>Hiểu</a:t>
            </a:r>
            <a:r>
              <a:rPr lang="en-US" sz="4400" dirty="0"/>
              <a:t> </a:t>
            </a:r>
            <a:r>
              <a:rPr lang="en-US" sz="4400" dirty="0" err="1"/>
              <a:t>rõ</a:t>
            </a:r>
            <a:r>
              <a:rPr lang="en-US" sz="4400" dirty="0"/>
              <a:t> </a:t>
            </a:r>
            <a:r>
              <a:rPr lang="en-US" sz="4400" dirty="0" err="1"/>
              <a:t>khách</a:t>
            </a:r>
            <a:r>
              <a:rPr lang="en-US" sz="4400" dirty="0"/>
              <a:t> </a:t>
            </a:r>
            <a:r>
              <a:rPr lang="en-US" sz="4400" dirty="0" err="1"/>
              <a:t>hàng</a:t>
            </a:r>
            <a:r>
              <a:rPr lang="en-US" sz="4400" dirty="0"/>
              <a:t> </a:t>
            </a:r>
            <a:r>
              <a:rPr lang="en-US" sz="4400" dirty="0" err="1"/>
              <a:t>của</a:t>
            </a:r>
            <a:r>
              <a:rPr lang="en-US" sz="4400" dirty="0"/>
              <a:t> </a:t>
            </a:r>
            <a:r>
              <a:rPr lang="en-US" sz="4400" dirty="0" err="1"/>
              <a:t>mình</a:t>
            </a:r>
            <a:r>
              <a:rPr lang="en-US" sz="4400" dirty="0"/>
              <a:t> </a:t>
            </a:r>
            <a:r>
              <a:rPr lang="en-US" sz="4400" dirty="0" err="1"/>
              <a:t>là</a:t>
            </a:r>
            <a:r>
              <a:rPr lang="en-US" sz="4400" dirty="0"/>
              <a:t> ai (</a:t>
            </a:r>
            <a:r>
              <a:rPr lang="en-US" sz="4400" dirty="0" err="1"/>
              <a:t>tuổi</a:t>
            </a:r>
            <a:r>
              <a:rPr lang="en-US" sz="4400" dirty="0"/>
              <a:t>, </a:t>
            </a:r>
            <a:r>
              <a:rPr lang="en-US" sz="4400" dirty="0" err="1"/>
              <a:t>thu</a:t>
            </a:r>
            <a:r>
              <a:rPr lang="en-US" sz="4400" dirty="0"/>
              <a:t> </a:t>
            </a:r>
            <a:r>
              <a:rPr lang="en-US" sz="4400" dirty="0" err="1"/>
              <a:t>nhập</a:t>
            </a:r>
            <a:r>
              <a:rPr lang="en-US" sz="4400" dirty="0"/>
              <a:t>, </a:t>
            </a:r>
            <a:r>
              <a:rPr lang="en-US" sz="4400" dirty="0" err="1"/>
              <a:t>xe</a:t>
            </a:r>
            <a:r>
              <a:rPr lang="en-US" sz="4400" dirty="0"/>
              <a:t> </a:t>
            </a:r>
            <a:r>
              <a:rPr lang="en-US" sz="4400" dirty="0" err="1"/>
              <a:t>gì</a:t>
            </a:r>
            <a:r>
              <a:rPr lang="en-US" sz="4400" dirty="0"/>
              <a:t>…)</a:t>
            </a:r>
            <a:endParaRPr sz="4400" dirty="0"/>
          </a:p>
          <a:p>
            <a:pPr marL="1657350" lvl="2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4400" dirty="0" err="1"/>
              <a:t>Hiểu</a:t>
            </a:r>
            <a:r>
              <a:rPr lang="en-US" sz="4400" dirty="0"/>
              <a:t> </a:t>
            </a:r>
            <a:r>
              <a:rPr lang="en-US" sz="4400" dirty="0" err="1"/>
              <a:t>rõ</a:t>
            </a:r>
            <a:r>
              <a:rPr lang="en-US" sz="4400" dirty="0"/>
              <a:t> </a:t>
            </a:r>
            <a:r>
              <a:rPr lang="en-US" sz="4400" dirty="0" err="1"/>
              <a:t>rủi</a:t>
            </a:r>
            <a:r>
              <a:rPr lang="en-US" sz="4400" dirty="0"/>
              <a:t> </a:t>
            </a:r>
            <a:r>
              <a:rPr lang="en-US" sz="4400" dirty="0" err="1"/>
              <a:t>ro</a:t>
            </a:r>
            <a:r>
              <a:rPr lang="en-US" sz="4400" dirty="0"/>
              <a:t> (</a:t>
            </a:r>
            <a:r>
              <a:rPr lang="en-US" sz="4400" dirty="0" err="1"/>
              <a:t>xe</a:t>
            </a:r>
            <a:r>
              <a:rPr lang="en-US" sz="4400" dirty="0"/>
              <a:t> </a:t>
            </a:r>
            <a:r>
              <a:rPr lang="en-US" sz="4400" dirty="0" err="1"/>
              <a:t>nào</a:t>
            </a:r>
            <a:r>
              <a:rPr lang="en-US" sz="4400" dirty="0"/>
              <a:t> hay </a:t>
            </a:r>
            <a:r>
              <a:rPr lang="en-US" sz="4400" dirty="0" err="1"/>
              <a:t>hư</a:t>
            </a:r>
            <a:r>
              <a:rPr lang="en-US" sz="4400" dirty="0"/>
              <a:t>, </a:t>
            </a:r>
            <a:r>
              <a:rPr lang="en-US" sz="4400" dirty="0" err="1"/>
              <a:t>khu</a:t>
            </a:r>
            <a:r>
              <a:rPr lang="en-US" sz="4400" dirty="0"/>
              <a:t> </a:t>
            </a:r>
            <a:r>
              <a:rPr lang="en-US" sz="4400" dirty="0" err="1"/>
              <a:t>vực</a:t>
            </a:r>
            <a:r>
              <a:rPr lang="en-US" sz="4400" dirty="0"/>
              <a:t> </a:t>
            </a:r>
            <a:r>
              <a:rPr lang="en-US" sz="4400" dirty="0" err="1"/>
              <a:t>nào</a:t>
            </a:r>
            <a:r>
              <a:rPr lang="en-US" sz="4400" dirty="0"/>
              <a:t> hay tai </a:t>
            </a:r>
            <a:r>
              <a:rPr lang="en-US" sz="4400" dirty="0" err="1"/>
              <a:t>nạn</a:t>
            </a:r>
            <a:r>
              <a:rPr lang="en-US" sz="4400" dirty="0"/>
              <a:t>…)</a:t>
            </a:r>
            <a:endParaRPr sz="4400" dirty="0"/>
          </a:p>
          <a:p>
            <a:pPr marL="1657350" lvl="2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4400" dirty="0" err="1"/>
              <a:t>Đưa</a:t>
            </a:r>
            <a:r>
              <a:rPr lang="en-US" sz="4400" dirty="0"/>
              <a:t> ra </a:t>
            </a:r>
            <a:r>
              <a:rPr lang="en-US" sz="4400" dirty="0" err="1"/>
              <a:t>quyết</a:t>
            </a:r>
            <a:r>
              <a:rPr lang="en-US" sz="4400" dirty="0"/>
              <a:t> </a:t>
            </a:r>
            <a:r>
              <a:rPr lang="en-US" sz="4400" dirty="0" err="1"/>
              <a:t>định</a:t>
            </a:r>
            <a:r>
              <a:rPr lang="en-US" sz="4400" dirty="0"/>
              <a:t> </a:t>
            </a:r>
            <a:r>
              <a:rPr lang="en-US" sz="4400" dirty="0" err="1"/>
              <a:t>kinh</a:t>
            </a:r>
            <a:r>
              <a:rPr lang="en-US" sz="4400" dirty="0"/>
              <a:t> </a:t>
            </a:r>
            <a:r>
              <a:rPr lang="en-US" sz="4400" dirty="0" err="1"/>
              <a:t>doanh</a:t>
            </a:r>
            <a:r>
              <a:rPr lang="en-US" sz="4400" dirty="0"/>
              <a:t> </a:t>
            </a:r>
            <a:r>
              <a:rPr lang="en-US" sz="4400" dirty="0" err="1"/>
              <a:t>tốt</a:t>
            </a:r>
            <a:r>
              <a:rPr lang="en-US" sz="4400" dirty="0"/>
              <a:t> </a:t>
            </a:r>
            <a:r>
              <a:rPr lang="en-US" sz="4400" dirty="0" err="1"/>
              <a:t>hơn</a:t>
            </a:r>
            <a:r>
              <a:rPr lang="en-US" sz="4400" dirty="0"/>
              <a:t>: </a:t>
            </a:r>
            <a:r>
              <a:rPr lang="en-US" sz="4400" dirty="0" err="1"/>
              <a:t>điều</a:t>
            </a:r>
            <a:r>
              <a:rPr lang="en-US" sz="4400" dirty="0"/>
              <a:t> </a:t>
            </a:r>
            <a:r>
              <a:rPr lang="en-US" sz="4400" dirty="0" err="1"/>
              <a:t>chỉnh</a:t>
            </a:r>
            <a:r>
              <a:rPr lang="en-US" sz="4400" dirty="0"/>
              <a:t> </a:t>
            </a:r>
            <a:r>
              <a:rPr lang="en-US" sz="4400" dirty="0" err="1"/>
              <a:t>giá</a:t>
            </a:r>
            <a:r>
              <a:rPr lang="en-US" sz="4400" dirty="0"/>
              <a:t> </a:t>
            </a:r>
            <a:r>
              <a:rPr lang="en-US" sz="4400" dirty="0" err="1"/>
              <a:t>bảo</a:t>
            </a:r>
            <a:r>
              <a:rPr lang="en-US" sz="4400" dirty="0"/>
              <a:t> </a:t>
            </a:r>
            <a:r>
              <a:rPr lang="en-US" sz="4400" dirty="0" err="1"/>
              <a:t>hiểm</a:t>
            </a:r>
            <a:r>
              <a:rPr lang="en-US" sz="4400" dirty="0"/>
              <a:t>, </a:t>
            </a:r>
            <a:r>
              <a:rPr lang="en-US" sz="4400" dirty="0" err="1"/>
              <a:t>phát</a:t>
            </a:r>
            <a:r>
              <a:rPr lang="en-US" sz="4400" dirty="0"/>
              <a:t> </a:t>
            </a:r>
            <a:r>
              <a:rPr lang="en-US" sz="4400" dirty="0" err="1"/>
              <a:t>hiện</a:t>
            </a:r>
            <a:r>
              <a:rPr lang="en-US" sz="4400" dirty="0"/>
              <a:t> </a:t>
            </a:r>
            <a:r>
              <a:rPr lang="en-US" sz="4400" dirty="0" err="1"/>
              <a:t>gian</a:t>
            </a:r>
            <a:r>
              <a:rPr lang="en-US" sz="4400" dirty="0"/>
              <a:t> </a:t>
            </a:r>
            <a:r>
              <a:rPr lang="en-US" sz="4400" dirty="0" err="1"/>
              <a:t>lận</a:t>
            </a:r>
            <a:r>
              <a:rPr lang="en-US" sz="4400" dirty="0"/>
              <a:t>, </a:t>
            </a:r>
            <a:r>
              <a:rPr lang="en-US" sz="4400" dirty="0" err="1"/>
              <a:t>tìm</a:t>
            </a:r>
            <a:r>
              <a:rPr lang="en-US" sz="4400" dirty="0"/>
              <a:t> </a:t>
            </a:r>
            <a:r>
              <a:rPr lang="en-US" sz="4400" dirty="0" err="1"/>
              <a:t>khách</a:t>
            </a:r>
            <a:r>
              <a:rPr lang="en-US" sz="4400" dirty="0"/>
              <a:t> </a:t>
            </a:r>
            <a:r>
              <a:rPr lang="en-US" sz="4400" dirty="0" err="1"/>
              <a:t>hàng</a:t>
            </a:r>
            <a:r>
              <a:rPr lang="en-US" sz="4400" dirty="0"/>
              <a:t> </a:t>
            </a:r>
            <a:r>
              <a:rPr lang="en-US" sz="4400" dirty="0" err="1"/>
              <a:t>tiềm</a:t>
            </a:r>
            <a:r>
              <a:rPr lang="en-US" sz="4400" dirty="0"/>
              <a:t> </a:t>
            </a:r>
            <a:r>
              <a:rPr lang="en-US" sz="4400" dirty="0" err="1"/>
              <a:t>năng</a:t>
            </a:r>
            <a:r>
              <a:rPr lang="en-US" sz="4400" dirty="0"/>
              <a:t>.</a:t>
            </a:r>
            <a:endParaRPr sz="4400" dirty="0"/>
          </a:p>
        </p:txBody>
      </p:sp>
      <p:sp>
        <p:nvSpPr>
          <p:cNvPr id="80" name="Google Shape;80;g2e62dd08a28_1_4"/>
          <p:cNvSpPr txBox="1">
            <a:spLocks noGrp="1"/>
          </p:cNvSpPr>
          <p:nvPr>
            <p:ph type="sldNum" idx="12"/>
          </p:nvPr>
        </p:nvSpPr>
        <p:spPr>
          <a:xfrm>
            <a:off x="23017219" y="13112751"/>
            <a:ext cx="666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e62dd08a28_1_12"/>
          <p:cNvSpPr txBox="1">
            <a:spLocks noGrp="1"/>
          </p:cNvSpPr>
          <p:nvPr>
            <p:ph type="title"/>
          </p:nvPr>
        </p:nvSpPr>
        <p:spPr>
          <a:xfrm>
            <a:off x="985517" y="626891"/>
            <a:ext cx="19352700" cy="10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dirty="0"/>
          </a:p>
        </p:txBody>
      </p:sp>
      <p:sp>
        <p:nvSpPr>
          <p:cNvPr id="87" name="Google Shape;87;g2e62dd08a28_1_12"/>
          <p:cNvSpPr txBox="1">
            <a:spLocks noGrp="1"/>
          </p:cNvSpPr>
          <p:nvPr>
            <p:ph type="sldNum" idx="12"/>
          </p:nvPr>
        </p:nvSpPr>
        <p:spPr>
          <a:xfrm>
            <a:off x="23017219" y="13112751"/>
            <a:ext cx="666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88" name="Google Shape;88;g2e62dd08a28_1_12" title="Screenshot 2025-11-20 1509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7170" y="2058297"/>
            <a:ext cx="17480650" cy="10004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62dd08a28_1_20"/>
          <p:cNvSpPr txBox="1">
            <a:spLocks noGrp="1"/>
          </p:cNvSpPr>
          <p:nvPr>
            <p:ph type="title"/>
          </p:nvPr>
        </p:nvSpPr>
        <p:spPr>
          <a:xfrm>
            <a:off x="1064042" y="812801"/>
            <a:ext cx="19352700" cy="10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Phân tích rủi ro theo xe và hành vi lái xe</a:t>
            </a:r>
            <a:endParaRPr/>
          </a:p>
        </p:txBody>
      </p:sp>
      <p:sp>
        <p:nvSpPr>
          <p:cNvPr id="95" name="Google Shape;95;g2e62dd08a28_1_20"/>
          <p:cNvSpPr txBox="1">
            <a:spLocks noGrp="1"/>
          </p:cNvSpPr>
          <p:nvPr>
            <p:ph type="sldNum" idx="12"/>
          </p:nvPr>
        </p:nvSpPr>
        <p:spPr>
          <a:xfrm>
            <a:off x="23017219" y="13112751"/>
            <a:ext cx="666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96" name="Google Shape;96;g2e62dd08a28_1_20" title="Screenshot 2025-11-20 1439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475" y="2255300"/>
            <a:ext cx="17683475" cy="996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62dd08a28_1_28"/>
          <p:cNvSpPr txBox="1">
            <a:spLocks noGrp="1"/>
          </p:cNvSpPr>
          <p:nvPr>
            <p:ph type="title"/>
          </p:nvPr>
        </p:nvSpPr>
        <p:spPr>
          <a:xfrm>
            <a:off x="1142567" y="681926"/>
            <a:ext cx="19352700" cy="10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>
                <a:solidFill>
                  <a:srgbClr val="000000"/>
                </a:solidFill>
              </a:rPr>
              <a:t>Phân tích khách hàng và đo lường rủi ro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3" name="Google Shape;103;g2e62dd08a28_1_28"/>
          <p:cNvSpPr txBox="1">
            <a:spLocks noGrp="1"/>
          </p:cNvSpPr>
          <p:nvPr>
            <p:ph type="sldNum" idx="12"/>
          </p:nvPr>
        </p:nvSpPr>
        <p:spPr>
          <a:xfrm>
            <a:off x="23017219" y="13112751"/>
            <a:ext cx="666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4" name="Google Shape;104;g2e62dd08a28_1_28" title="Screenshot 2025-11-20 1440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5180" y="2093785"/>
            <a:ext cx="18005750" cy="102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62dd08a28_1_35"/>
          <p:cNvSpPr txBox="1">
            <a:spLocks noGrp="1"/>
          </p:cNvSpPr>
          <p:nvPr>
            <p:ph type="title"/>
          </p:nvPr>
        </p:nvSpPr>
        <p:spPr>
          <a:xfrm>
            <a:off x="1064042" y="812801"/>
            <a:ext cx="19352700" cy="10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dirty="0"/>
          </a:p>
        </p:txBody>
      </p:sp>
      <p:sp>
        <p:nvSpPr>
          <p:cNvPr id="111" name="Google Shape;111;g2e62dd08a28_1_35"/>
          <p:cNvSpPr txBox="1">
            <a:spLocks noGrp="1"/>
          </p:cNvSpPr>
          <p:nvPr>
            <p:ph type="body" idx="1"/>
          </p:nvPr>
        </p:nvSpPr>
        <p:spPr>
          <a:xfrm>
            <a:off x="3737337" y="2523743"/>
            <a:ext cx="15739383" cy="9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0" indent="-914400" algn="just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5200"/>
              <a:buFont typeface="+mj-lt"/>
              <a:buAutoNum type="arabicPeriod"/>
            </a:pPr>
            <a:r>
              <a:rPr lang="vi-VN" b="1" dirty="0"/>
              <a:t>Về Xe: </a:t>
            </a:r>
            <a:r>
              <a:rPr lang="vi-VN" dirty="0"/>
              <a:t>Cần lưu ý điều chỉnh phí cao hơn cho xe </a:t>
            </a:r>
            <a:r>
              <a:rPr lang="vi-VN" b="1" i="1" dirty="0">
                <a:solidFill>
                  <a:srgbClr val="FF0000"/>
                </a:solidFill>
              </a:rPr>
              <a:t>Ford, Chevrolet</a:t>
            </a:r>
            <a:r>
              <a:rPr lang="vi-VN" dirty="0"/>
              <a:t> (do tổng chi phí cao) và dòng </a:t>
            </a:r>
            <a:r>
              <a:rPr lang="vi-VN" b="1" i="1" dirty="0">
                <a:solidFill>
                  <a:srgbClr val="FF0000"/>
                </a:solidFill>
              </a:rPr>
              <a:t>Grand Prix </a:t>
            </a:r>
            <a:r>
              <a:rPr lang="vi-VN" dirty="0"/>
              <a:t>(do hay gặp tai nạn).</a:t>
            </a:r>
            <a:endParaRPr lang="en-US" dirty="0"/>
          </a:p>
          <a:p>
            <a:pPr marL="914400" lvl="0" indent="-914400" algn="just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5200"/>
              <a:buFont typeface="+mj-lt"/>
              <a:buAutoNum type="arabicPeriod"/>
            </a:pPr>
            <a:r>
              <a:rPr lang="vi-VN" b="1" dirty="0"/>
              <a:t>Về Người:</a:t>
            </a:r>
            <a:r>
              <a:rPr lang="vi-VN" dirty="0"/>
              <a:t> Nhóm khách hàng </a:t>
            </a:r>
            <a:r>
              <a:rPr lang="vi-VN" b="1" i="1" dirty="0">
                <a:solidFill>
                  <a:srgbClr val="FF0000"/>
                </a:solidFill>
              </a:rPr>
              <a:t>Độc thân</a:t>
            </a:r>
            <a:r>
              <a:rPr lang="vi-VN" dirty="0"/>
              <a:t> (Single) và nhóm có bằng </a:t>
            </a:r>
            <a:r>
              <a:rPr lang="vi-VN" b="1" i="1" dirty="0">
                <a:solidFill>
                  <a:srgbClr val="FF0000"/>
                </a:solidFill>
              </a:rPr>
              <a:t>Cử nhân</a:t>
            </a:r>
            <a:r>
              <a:rPr lang="vi-VN" dirty="0"/>
              <a:t> (Bachelors) đang là nhóm làm tốn tiền bồi thường nhất.</a:t>
            </a:r>
            <a:endParaRPr lang="en-US" dirty="0"/>
          </a:p>
          <a:p>
            <a:pPr marL="914400" lvl="0" indent="-914400" algn="just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5200"/>
              <a:buFont typeface="+mj-lt"/>
              <a:buAutoNum type="arabicPeriod"/>
            </a:pPr>
            <a:r>
              <a:rPr lang="vi-VN" b="1" dirty="0"/>
              <a:t>Cảnh báo: </a:t>
            </a:r>
            <a:r>
              <a:rPr lang="vi-VN" dirty="0"/>
              <a:t>Có tới 27.54% khách hàng rủi ro cao, cần có chính sách chăm sóc hoặc tái thẩm định nhóm này.</a:t>
            </a:r>
            <a:endParaRPr lang="en-US" dirty="0"/>
          </a:p>
          <a:p>
            <a:pPr marL="914400" lvl="0" indent="-914400" algn="just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5200"/>
              <a:buFont typeface="+mj-lt"/>
              <a:buAutoNum type="arabicPeriod"/>
            </a:pPr>
            <a:r>
              <a:rPr lang="vi-VN" dirty="0"/>
              <a:t>Xem xét lại quy trình bồi thường cho nhóm xe cổ (&gt;60 năm) vì biên độ chi phí quá lớn.</a:t>
            </a:r>
            <a:endParaRPr dirty="0"/>
          </a:p>
        </p:txBody>
      </p:sp>
      <p:sp>
        <p:nvSpPr>
          <p:cNvPr id="112" name="Google Shape;112;g2e62dd08a28_1_35"/>
          <p:cNvSpPr txBox="1">
            <a:spLocks noGrp="1"/>
          </p:cNvSpPr>
          <p:nvPr>
            <p:ph type="sldNum" idx="12"/>
          </p:nvPr>
        </p:nvSpPr>
        <p:spPr>
          <a:xfrm>
            <a:off x="23017219" y="13112751"/>
            <a:ext cx="666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12EA6B-AE42-43EC-B64D-BCDF7BD7F8AB}"/>
              </a:ext>
            </a:extLst>
          </p:cNvPr>
          <p:cNvSpPr txBox="1"/>
          <p:nvPr/>
        </p:nvSpPr>
        <p:spPr>
          <a:xfrm>
            <a:off x="8677835" y="5850796"/>
            <a:ext cx="140566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Lucida Calligraphy" panose="03010101010101010101" pitchFamily="66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cle_Master_16x9_2018">
  <a:themeElements>
    <a:clrScheme name="Oracle">
      <a:dk1>
        <a:srgbClr val="58595B"/>
      </a:dk1>
      <a:lt1>
        <a:srgbClr val="FFFFFF"/>
      </a:lt1>
      <a:dk2>
        <a:srgbClr val="374A58"/>
      </a:dk2>
      <a:lt2>
        <a:srgbClr val="C8D9DE"/>
      </a:lt2>
      <a:accent1>
        <a:srgbClr val="F80000"/>
      </a:accent1>
      <a:accent2>
        <a:srgbClr val="8EADBF"/>
      </a:accent2>
      <a:accent3>
        <a:srgbClr val="FF8D14"/>
      </a:accent3>
      <a:accent4>
        <a:srgbClr val="007395"/>
      </a:accent4>
      <a:accent5>
        <a:srgbClr val="A52641"/>
      </a:accent5>
      <a:accent6>
        <a:srgbClr val="3A913F"/>
      </a:accent6>
      <a:hlink>
        <a:srgbClr val="1F4F82"/>
      </a:hlink>
      <a:folHlink>
        <a:srgbClr val="8A8C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323</Words>
  <Application>Microsoft Office PowerPoint</Application>
  <PresentationFormat>Custom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Montserrat</vt:lpstr>
      <vt:lpstr>Lucida Calligraphy</vt:lpstr>
      <vt:lpstr>Arial</vt:lpstr>
      <vt:lpstr>Oracle_Master_16x9_2018</vt:lpstr>
      <vt:lpstr>PowerPoint Presentation</vt:lpstr>
      <vt:lpstr>NỘI DUNG CHÍNH </vt:lpstr>
      <vt:lpstr>Giới thiệu về bối cảnh bài toán</vt:lpstr>
      <vt:lpstr>Phân tích tổng quan</vt:lpstr>
      <vt:lpstr>Phân tích rủi ro theo xe và hành vi lái xe</vt:lpstr>
      <vt:lpstr>Phân tích khách hàng và đo lường rủi ro</vt:lpstr>
      <vt:lpstr>Đề xuất giải pháp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Louis Twelve</dc:creator>
  <cp:lastModifiedBy>mat min</cp:lastModifiedBy>
  <cp:revision>8</cp:revision>
  <dcterms:created xsi:type="dcterms:W3CDTF">2014-11-10T20:05:35Z</dcterms:created>
  <dcterms:modified xsi:type="dcterms:W3CDTF">2025-12-12T08:03:28Z</dcterms:modified>
</cp:coreProperties>
</file>